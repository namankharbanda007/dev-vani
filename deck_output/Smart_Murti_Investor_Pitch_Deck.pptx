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pic>
        <p:nvPicPr>
          <p:cNvPr id="4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143000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4360" y="162763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5A1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Live AI Pandit for Hindu Families Worldwide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21792" y="3730752"/>
            <a:ext cx="44805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Murti gives Hindu families trusted spiritual guidance and live family puja through a multilingual AI Pandit.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" y="4864608"/>
            <a:ext cx="44805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937760"/>
            <a:ext cx="4261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guidance  |  Live family puja  |  WhatsApp re-entry</a:t>
            </a:r>
            <a:endParaRPr lang="en-US" sz="830" dirty="0"/>
          </a:p>
        </p:txBody>
      </p:sp>
      <p:pic>
        <p:nvPicPr>
          <p:cNvPr id="10" name="Image 1" descr="C:\Users\NAMAN KHARBANDA\Downloads\ElatoAI-main (2)\deck_output\assets\pandit-consistent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4526280" cy="5257800"/>
          </a:xfrm>
          <a:prstGeom prst="rect">
            <a:avLst/>
          </a:prstGeom>
        </p:spPr>
      </p:pic>
      <p:pic>
        <p:nvPicPr>
          <p:cNvPr id="11" name="Image 2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spiritual access is broken for diaspora families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755648"/>
            <a:ext cx="8686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Hindu family abroad urgently needs a pandit, the experience is fragmented by geography, time zones, language, and trust.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28346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3072384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needs delayed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438144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quickly find a trusted local pandit for health, protection, or home rituals.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2542032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2816352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NRI mother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New Jersey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2286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22208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 friction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22208" y="2852928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Relatives in India want to join, but WhatsApp calls across time zones are chaotic.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75320" y="3913632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22208" y="4142232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Passive substitutes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22208" y="4480560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 streams and per-minute astrology apps do not create a shared ritual.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3429000"/>
            <a:ext cx="914400" cy="-365760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86600" y="3063240"/>
            <a:ext cx="1143000" cy="-274320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86600" y="3108960"/>
            <a:ext cx="1143000" cy="1325880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pic>
        <p:nvPicPr>
          <p:cNvPr id="21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QUO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tools miss the family ritual job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993392"/>
            <a:ext cx="11128248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12848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quo matrix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33672" y="1993392"/>
            <a:ext cx="1901952" cy="685800"/>
          </a:xfrm>
          <a:prstGeom prst="rect">
            <a:avLst/>
          </a:prstGeom>
          <a:solidFill>
            <a:srgbClr val="F3E6CC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215798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Pandits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35624" y="1993392"/>
            <a:ext cx="1901952" cy="685800"/>
          </a:xfrm>
          <a:prstGeom prst="rect">
            <a:avLst/>
          </a:prstGeom>
          <a:solidFill>
            <a:srgbClr val="F3E6CC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215798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37576" y="1993392"/>
            <a:ext cx="1901952" cy="685800"/>
          </a:xfrm>
          <a:prstGeom prst="rect">
            <a:avLst/>
          </a:prstGeom>
          <a:solidFill>
            <a:srgbClr val="F3E6CC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215798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Astrology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39528" y="1993392"/>
            <a:ext cx="1901952" cy="685800"/>
          </a:xfrm>
          <a:prstGeom prst="rect">
            <a:avLst/>
          </a:prstGeom>
          <a:solidFill>
            <a:srgbClr val="5A123B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76688" y="2157984"/>
            <a:ext cx="16276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Murti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2679192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880360"/>
            <a:ext cx="31729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 24/7 availability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233672" y="2679192"/>
            <a:ext cx="1901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28346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135624" y="2679192"/>
            <a:ext cx="1901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28346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037576" y="2679192"/>
            <a:ext cx="1901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37576" y="28346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9939528" y="2679192"/>
            <a:ext cx="1901952" cy="685800"/>
          </a:xfrm>
          <a:prstGeom prst="rect">
            <a:avLst/>
          </a:prstGeom>
          <a:solidFill>
            <a:srgbClr val="5A123B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9528" y="28346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3B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13232" y="3364992"/>
            <a:ext cx="3520440" cy="685800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566160"/>
            <a:ext cx="31729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multilingual guidance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233672" y="3364992"/>
            <a:ext cx="1901952" cy="685800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35204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135624" y="3364992"/>
            <a:ext cx="1901952" cy="685800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35204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8037576" y="3364992"/>
            <a:ext cx="1901952" cy="685800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37576" y="35204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9939528" y="3364992"/>
            <a:ext cx="1901952" cy="685800"/>
          </a:xfrm>
          <a:prstGeom prst="rect">
            <a:avLst/>
          </a:prstGeom>
          <a:solidFill>
            <a:srgbClr val="5A123B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39528" y="35204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3B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713232" y="4050792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251960"/>
            <a:ext cx="31729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Cross-border family joining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233672" y="4050792"/>
            <a:ext cx="1901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33672" y="42062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6135624" y="4050792"/>
            <a:ext cx="1901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35624" y="42062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8037576" y="4050792"/>
            <a:ext cx="19019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37576" y="42062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9939528" y="4050792"/>
            <a:ext cx="1901952" cy="685800"/>
          </a:xfrm>
          <a:prstGeom prst="rect">
            <a:avLst/>
          </a:prstGeom>
          <a:solidFill>
            <a:srgbClr val="5A123B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39528" y="42062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3B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713232" y="4736592"/>
            <a:ext cx="3520440" cy="685800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937760"/>
            <a:ext cx="31729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Ritual correctness and devotional tone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4233672" y="4736592"/>
            <a:ext cx="1901952" cy="685800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33672" y="48920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6135624" y="4736592"/>
            <a:ext cx="1901952" cy="685800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35624" y="48920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8037576" y="4736592"/>
            <a:ext cx="1901952" cy="685800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37576" y="48920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9939528" y="4736592"/>
            <a:ext cx="1901952" cy="685800"/>
          </a:xfrm>
          <a:prstGeom prst="rect">
            <a:avLst/>
          </a:prstGeom>
          <a:solidFill>
            <a:srgbClr val="5A123B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39528" y="4892040"/>
            <a:ext cx="19019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3B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914400" y="5669280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Murti is not another content app. It is the first shared, interactive ritual layer for global families.</a:t>
            </a:r>
            <a:endParaRPr lang="en-US" sz="1500" dirty="0"/>
          </a:p>
        </p:txBody>
      </p:sp>
      <p:pic>
        <p:nvPicPr>
          <p:cNvPr id="57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trusted family pandit, now instant, affordable, and global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session feels like calling your family pandit. The system speaks your language, remembers context, and lets the whole family join when the moment becomes a ritual.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47488" y="2148840"/>
            <a:ext cx="2011680" cy="3429000"/>
          </a:xfrm>
          <a:prstGeom prst="roundRect">
            <a:avLst>
              <a:gd name="adj" fmla="val 6364"/>
            </a:avLst>
          </a:prstGeom>
          <a:solidFill>
            <a:srgbClr val="191411"/>
          </a:solidFill>
          <a:ln w="15240">
            <a:solidFill>
              <a:srgbClr val="33261E"/>
            </a:solidFill>
            <a:prstDash val="solid"/>
          </a:ln>
          <a:effectLst>
            <a:outerShdw sx="100000" sy="100000" kx="0" ky="0" algn="bl" rotWithShape="0" blurRad="25400" dist="50800" dir="2700000">
              <a:srgbClr val="6D4E2D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57216" y="2331720"/>
            <a:ext cx="1792224" cy="3063240"/>
          </a:xfrm>
          <a:prstGeom prst="roundRect">
            <a:avLst>
              <a:gd name="adj" fmla="val 4082"/>
            </a:avLst>
          </a:prstGeom>
          <a:solidFill>
            <a:srgbClr val="103927"/>
          </a:solidFill>
          <a:ln w="12700">
            <a:solidFill>
              <a:srgbClr val="265C45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249631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Pandit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6088" y="292608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73028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3008376"/>
            <a:ext cx="1316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Namaste. I can guide today's puja.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5276088" y="342900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213D35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3511296"/>
            <a:ext cx="1316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family into one room.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5276088" y="393192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73028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4014216"/>
            <a:ext cx="1316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samagri, then begin.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5367528" y="486460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5A123B"/>
          </a:solidFill>
          <a:ln w="12700">
            <a:solidFill>
              <a:srgbClr val="5A123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7256" y="4937760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to Smart Pandit</a:t>
            </a:r>
            <a:endParaRPr lang="en-US" sz="830" dirty="0"/>
          </a:p>
        </p:txBody>
      </p:sp>
      <p:pic>
        <p:nvPicPr>
          <p:cNvPr id="18" name="Image 0" descr="C:\Users\NAMAN KHARBANDA\Downloads\ElatoAI-main (2)\deck_output\assets\pandit-consisten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103120"/>
            <a:ext cx="2468880" cy="32461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49808" y="23317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32688" y="2487168"/>
            <a:ext cx="15087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32688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Hinglish, Hindi, English, and regional language support.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4005072" y="2697480"/>
            <a:ext cx="978408" cy="228600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49808" y="33832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32688" y="3538728"/>
            <a:ext cx="15087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32688" y="3776472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based on family, ritual, and spiritual memory.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005072" y="3749040"/>
            <a:ext cx="978408" cy="-438912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49808" y="44348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32688" y="4590288"/>
            <a:ext cx="15087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on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932688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and app re-entry for habit and urgency.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4005072" y="4800600"/>
            <a:ext cx="978408" cy="-1106424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pic>
        <p:nvPicPr>
          <p:cNvPr id="31" name="Image 1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voice AI finally meets a real diaspora behavior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709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24712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Technological readiness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4712" y="2880360"/>
            <a:ext cx="3566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Low-latency voice, multilingual conversation, and context retrieval can now carry the tone required for sacred rituals.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675888"/>
            <a:ext cx="2468880" cy="685800"/>
          </a:xfrm>
          <a:prstGeom prst="arc">
            <a:avLst/>
          </a:prstGeom>
          <a:noFill/>
          <a:ln w="381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37960" y="2148840"/>
            <a:ext cx="4709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39712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 demand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39712" y="2880360"/>
            <a:ext cx="3474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NRI families already coordinate rituals across borders. The behavior exists. The platform does not.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3675888"/>
            <a:ext cx="2468880" cy="685800"/>
          </a:xfrm>
          <a:prstGeom prst="arc">
            <a:avLst/>
          </a:prstGeom>
          <a:noFill/>
          <a:ln w="38100">
            <a:solidFill>
              <a:srgbClr val="5A123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148840" y="5166360"/>
            <a:ext cx="7863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opening: a sacred, voice-first product that feels personal, not like software.</a:t>
            </a:r>
            <a:endParaRPr lang="en-US" sz="1800" dirty="0"/>
          </a:p>
        </p:txBody>
      </p:sp>
      <p:pic>
        <p:nvPicPr>
          <p:cNvPr id="15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WEDGE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urgent 1:1 Smart Pandit guidance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8046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ask families to learn new group software on day one. We start with the immediate front door for users in pain.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743200"/>
            <a:ext cx="109728" cy="109728"/>
          </a:xfrm>
          <a:prstGeom prst="ellipse">
            <a:avLst/>
          </a:prstGeom>
          <a:solidFill>
            <a:srgbClr val="5A123B"/>
          </a:solidFill>
          <a:ln w="12700">
            <a:solidFill>
              <a:srgbClr val="5A1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intent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concerns, protection, peace, family stress, or relationship guidance.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3730752"/>
            <a:ext cx="109728" cy="109728"/>
          </a:xfrm>
          <a:prstGeom prst="ellipse">
            <a:avLst/>
          </a:prstGeom>
          <a:solidFill>
            <a:srgbClr val="5A123B"/>
          </a:solidFill>
          <a:ln w="12700">
            <a:solidFill>
              <a:srgbClr val="5A1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 trust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3986784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Calm, structured, spiritually grounded support exactly when local pandits are unavailable.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12280" y="23317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2761488"/>
            <a:ext cx="2103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Sacred Concierge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23760" y="333756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7E6"/>
          </a:solidFill>
          <a:ln w="12700">
            <a:solidFill>
              <a:srgbClr val="D8C39C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341071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7E6"/>
          </a:solidFill>
          <a:ln w="12700">
            <a:solidFill>
              <a:srgbClr val="D8C39C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341071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144000" y="333756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7E6"/>
          </a:solidFill>
          <a:ln w="12700">
            <a:solidFill>
              <a:srgbClr val="D8C39C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53728" y="341071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Peace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360920" y="3913632"/>
            <a:ext cx="2514600" cy="329184"/>
          </a:xfrm>
          <a:prstGeom prst="roundRect">
            <a:avLst>
              <a:gd name="adj" fmla="val 22222"/>
            </a:avLst>
          </a:prstGeom>
          <a:solidFill>
            <a:srgbClr val="5A123B"/>
          </a:solidFill>
          <a:ln w="12700">
            <a:solidFill>
              <a:srgbClr val="5A123B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0648" y="3986784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to Smart Pandit now</a:t>
            </a:r>
            <a:endParaRPr lang="en-US" sz="830" dirty="0"/>
          </a:p>
        </p:txBody>
      </p:sp>
      <p:pic>
        <p:nvPicPr>
          <p:cNvPr id="23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FLAGSHIP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cross-border family puja becomes the premium moment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609344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trust is established through urgent guidance, the relationship upgrades to shared family rituals.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377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2615184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spiritual moments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944368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Relatives in New Jersey, Toronto, and Delhi join the same ritual.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3730752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3968496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ritual room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4297680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Purpose-built for sacred focus, not a generic video call.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1993392"/>
            <a:ext cx="1554480" cy="2880360"/>
          </a:xfrm>
          <a:prstGeom prst="roundRect">
            <a:avLst>
              <a:gd name="adj" fmla="val 8235"/>
            </a:avLst>
          </a:prstGeom>
          <a:solidFill>
            <a:srgbClr val="191411"/>
          </a:solidFill>
          <a:ln w="15240">
            <a:solidFill>
              <a:srgbClr val="33261E"/>
            </a:solidFill>
            <a:prstDash val="solid"/>
          </a:ln>
          <a:effectLst>
            <a:outerShdw sx="100000" sy="100000" kx="0" ky="0" algn="bl" rotWithShape="0" blurRad="25400" dist="50800" dir="2700000">
              <a:srgbClr val="6D4E2D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87568" y="2176272"/>
            <a:ext cx="1335024" cy="2514600"/>
          </a:xfrm>
          <a:prstGeom prst="roundRect">
            <a:avLst>
              <a:gd name="adj" fmla="val 5479"/>
            </a:avLst>
          </a:prstGeom>
          <a:solidFill>
            <a:srgbClr val="103927"/>
          </a:solidFill>
          <a:ln w="12700">
            <a:solidFill>
              <a:srgbClr val="265C45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4086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Puja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06440" y="277063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173028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285292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Namaste. I can guide today's puja.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>
            <a:off x="5806440" y="32735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213D35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335584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family into one room.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5806440" y="377647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173028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3858768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samagri, then begin.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5897880" y="41605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5A123B"/>
          </a:solidFill>
          <a:ln w="12700">
            <a:solidFill>
              <a:srgbClr val="5A123B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7608" y="423367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to Smart Pandit</a:t>
            </a:r>
            <a:endParaRPr lang="en-US" sz="830" dirty="0"/>
          </a:p>
        </p:txBody>
      </p:sp>
      <p:pic>
        <p:nvPicPr>
          <p:cNvPr id="24" name="Image 0" descr="C:\Users\NAMAN KHARBANDA\Downloads\ElatoAI-main (2)\deck_output\assets\pandit-consistent-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331720"/>
            <a:ext cx="914400" cy="98755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892040" y="2331720"/>
            <a:ext cx="219456" cy="219456"/>
          </a:xfrm>
          <a:prstGeom prst="ellipse">
            <a:avLst/>
          </a:prstGeom>
          <a:solidFill>
            <a:srgbClr val="B77A17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0" y="2624328"/>
            <a:ext cx="1371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Jersey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01768" y="2441448"/>
            <a:ext cx="1325880" cy="1106424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818120" y="2468880"/>
            <a:ext cx="219456" cy="219456"/>
          </a:xfrm>
          <a:prstGeom prst="ellipse">
            <a:avLst/>
          </a:prstGeom>
          <a:solidFill>
            <a:srgbClr val="B77A17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2761488"/>
            <a:ext cx="1371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Toronto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927848" y="2578608"/>
            <a:ext cx="-1600200" cy="969264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812280" y="5257800"/>
            <a:ext cx="219456" cy="219456"/>
          </a:xfrm>
          <a:prstGeom prst="ellipse">
            <a:avLst/>
          </a:prstGeom>
          <a:solidFill>
            <a:srgbClr val="B77A17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0" y="5550408"/>
            <a:ext cx="1371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Delhi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22008" y="5367528"/>
            <a:ext cx="-594360" cy="-1819656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pic>
        <p:nvPicPr>
          <p:cNvPr id="34" name="Image 1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competitor can copy an AI bot. They cannot copy a family’s spiritual memory.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21792" y="1664208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session makes Smart Murti more personalized, more trusted, and harder to replace.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0" y="2788920"/>
            <a:ext cx="1280160" cy="1280160"/>
          </a:xfrm>
          <a:prstGeom prst="ellipse">
            <a:avLst/>
          </a:prstGeom>
          <a:solidFill>
            <a:srgbClr val="5A123B"/>
          </a:solidFill>
          <a:ln w="25400">
            <a:solidFill>
              <a:srgbClr val="B77A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96128" y="3090672"/>
            <a:ext cx="694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3B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E3B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06640" y="2011680"/>
            <a:ext cx="320040" cy="320040"/>
          </a:xfrm>
          <a:prstGeom prst="ellipse">
            <a:avLst/>
          </a:prstGeom>
          <a:solidFill>
            <a:srgbClr val="E3B04B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3429000"/>
            <a:ext cx="1618488" cy="-1261872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818120" y="2075688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Child’s health puja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778240" y="3383280"/>
            <a:ext cx="320040" cy="320040"/>
          </a:xfrm>
          <a:prstGeom prst="ellipse">
            <a:avLst/>
          </a:prstGeom>
          <a:solidFill>
            <a:srgbClr val="E3B04B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429000"/>
            <a:ext cx="2990088" cy="109728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89720" y="3447288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Housewarming guidance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4709160"/>
            <a:ext cx="320040" cy="320040"/>
          </a:xfrm>
          <a:prstGeom prst="ellipse">
            <a:avLst/>
          </a:prstGeom>
          <a:solidFill>
            <a:srgbClr val="E3B04B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3429000"/>
            <a:ext cx="2167128" cy="1435608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366760" y="4773168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rituals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66160" y="4526280"/>
            <a:ext cx="320040" cy="320040"/>
          </a:xfrm>
          <a:prstGeom prst="ellipse">
            <a:avLst/>
          </a:prstGeom>
          <a:solidFill>
            <a:srgbClr val="E3B04B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3429000"/>
            <a:ext cx="-2221992" cy="1252728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977640" y="4590288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preferences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0" y="2606040"/>
            <a:ext cx="320040" cy="320040"/>
          </a:xfrm>
          <a:prstGeom prst="ellipse">
            <a:avLst/>
          </a:prstGeom>
          <a:solidFill>
            <a:srgbClr val="E3B04B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3429000"/>
            <a:ext cx="-2862072" cy="-667512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337560" y="2670048"/>
            <a:ext cx="1554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remedies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Ritual continuity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6112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remembers family composition, past rituals, recurring issues, and language preferences.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Compounding trust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6112" y="4690872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Switching away gets harder with every sacred session.</a:t>
            </a:r>
            <a:endParaRPr lang="en-US" sz="1300" dirty="0"/>
          </a:p>
        </p:txBody>
      </p:sp>
      <p:pic>
        <p:nvPicPr>
          <p:cNvPr id="28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CUSTOMER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diaspora family organizer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7589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strictly targeting Hindu diaspora families experiencing cross-border coordination friction.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71800" y="2240280"/>
            <a:ext cx="6217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2542032"/>
            <a:ext cx="347472" cy="347472"/>
          </a:xfrm>
          <a:prstGeom prst="ellipse">
            <a:avLst/>
          </a:prstGeom>
          <a:solidFill>
            <a:srgbClr val="E3B04B"/>
          </a:solidFill>
          <a:ln w="12700">
            <a:solidFill>
              <a:srgbClr val="E3B0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buyer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86200" y="2798064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Mother, spouse, or family organizer handling spiritual, ritual, and health concerns.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337560" y="3383280"/>
            <a:ext cx="347472" cy="347472"/>
          </a:xfrm>
          <a:prstGeom prst="ellipse">
            <a:avLst/>
          </a:prstGeom>
          <a:solidFill>
            <a:srgbClr val="E3B04B"/>
          </a:solidFill>
          <a:ln w="12700">
            <a:solidFill>
              <a:srgbClr val="E3B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336499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triggers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86200" y="3639312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health worries, major festivals, new home purchases, or life-direction moments.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337560" y="4224528"/>
            <a:ext cx="347472" cy="347472"/>
          </a:xfrm>
          <a:prstGeom prst="ellipse">
            <a:avLst/>
          </a:prstGeom>
          <a:solidFill>
            <a:srgbClr val="E3B04B"/>
          </a:solidFill>
          <a:ln w="12700">
            <a:solidFill>
              <a:srgbClr val="E3B0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4206240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86200" y="4480560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values tradition, already spends money on rituals, already feels manual coordination pain.</a:t>
            </a:r>
            <a:endParaRPr lang="en-US" sz="960" dirty="0"/>
          </a:p>
        </p:txBody>
      </p:sp>
      <p:pic>
        <p:nvPicPr>
          <p:cNvPr id="17" name="Image 0" descr="C:\Users\NAMAN KHARBANDA\Downloads\ElatoAI-main (2)\deck_output\assets\pandit-consisten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920240"/>
            <a:ext cx="1783080" cy="2148840"/>
          </a:xfrm>
          <a:prstGeom prst="rect">
            <a:avLst/>
          </a:prstGeom>
        </p:spPr>
      </p:pic>
      <p:pic>
        <p:nvPicPr>
          <p:cNvPr id="18" name="Image 1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sessions compound into premium family usage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8686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monetize moments of need first, then expand into higher-value family rituals and recurring spiritual continuity.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35204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16152" y="3685032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3959352"/>
            <a:ext cx="16916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Single-user 1:1 session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611880" y="23317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6472" y="2496312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re-entry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76472" y="2770632"/>
            <a:ext cx="16916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follow-up guidance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00800" y="23317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2496312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invite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2770632"/>
            <a:ext cx="16916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Relatives join the ecosystem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823960" y="35204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2D4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88552" y="3685032"/>
            <a:ext cx="1737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family puja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88552" y="3959352"/>
            <a:ext cx="16916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multi-user session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127248" y="3886200"/>
            <a:ext cx="484632" cy="-914400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15000" y="2743200"/>
            <a:ext cx="685800" cy="0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31352" y="2971800"/>
            <a:ext cx="292608" cy="914400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23960" y="4389120"/>
            <a:ext cx="-5669280" cy="45720"/>
          </a:xfrm>
          <a:prstGeom prst="line">
            <a:avLst/>
          </a:prstGeom>
          <a:noFill/>
          <a:ln w="25400">
            <a:solidFill>
              <a:srgbClr val="B77A1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10912" y="3218688"/>
            <a:ext cx="1417320" cy="2331720"/>
          </a:xfrm>
          <a:prstGeom prst="roundRect">
            <a:avLst>
              <a:gd name="adj" fmla="val 9032"/>
            </a:avLst>
          </a:prstGeom>
          <a:solidFill>
            <a:srgbClr val="191411"/>
          </a:solidFill>
          <a:ln w="15240">
            <a:solidFill>
              <a:srgbClr val="33261E"/>
            </a:solidFill>
            <a:prstDash val="solid"/>
          </a:ln>
          <a:effectLst>
            <a:outerShdw sx="100000" sy="100000" kx="0" ky="0" algn="bl" rotWithShape="0" blurRad="25400" dist="50800" dir="2700000">
              <a:srgbClr val="6D4E2D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3401568"/>
            <a:ext cx="1197864" cy="1965960"/>
          </a:xfrm>
          <a:prstGeom prst="roundRect">
            <a:avLst>
              <a:gd name="adj" fmla="val 6107"/>
            </a:avLst>
          </a:prstGeom>
          <a:solidFill>
            <a:srgbClr val="103927"/>
          </a:solidFill>
          <a:ln w="12700">
            <a:solidFill>
              <a:srgbClr val="265C45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56616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39512" y="399592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028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4078224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Namaste. I can guide today's puja.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5239512" y="449884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213D35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58384" y="4581144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family into one room.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239512" y="500176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173028"/>
          </a:solidFill>
          <a:ln w="12700">
            <a:solidFill>
              <a:srgbClr val="4B7A62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58384" y="5084064"/>
            <a:ext cx="722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EDE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samagri, then begin.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5330952" y="4837176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5A123B"/>
          </a:solidFill>
          <a:ln w="12700">
            <a:solidFill>
              <a:srgbClr val="5A123B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4910328"/>
            <a:ext cx="557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to Smart Pandit</a:t>
            </a:r>
            <a:endParaRPr lang="en-US" sz="830" dirty="0"/>
          </a:p>
        </p:txBody>
      </p:sp>
      <p:pic>
        <p:nvPicPr>
          <p:cNvPr id="34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foundations are live. Now the investor metrics need to be locked.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9848" y="2496312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web 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2770632"/>
            <a:ext cx="3840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Pandit home, voice/chat, live family puja room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035040" y="233172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6208" y="2496312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app 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36208" y="2770632"/>
            <a:ext cx="3840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Smart Pandit, horoscope, bhajan, wallet, live puja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68680" y="342900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69848" y="3593592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habit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3867912"/>
            <a:ext cx="3840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spiritual re-entry and follow-up surface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35040" y="342900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36208" y="3593592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Personalization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3867912"/>
            <a:ext cx="3840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Horoscope, family context, language, and guide memory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7955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sending this deck, replace this rail with the actual numbers investors will ask for: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534924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5422392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families reached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3429000" y="534924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5422392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sessions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989320" y="534924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5422392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repeat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549640" y="534924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FFF8EA"/>
          </a:solidFill>
          <a:ln w="12700">
            <a:solidFill>
              <a:srgbClr val="D8C39C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5422392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family members per puja</a:t>
            </a:r>
            <a:endParaRPr lang="en-US" sz="830" dirty="0"/>
          </a:p>
        </p:txBody>
      </p:sp>
      <p:pic>
        <p:nvPicPr>
          <p:cNvPr id="27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High-margin digital services with premium ritual upside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2194560" cy="475488"/>
          </a:xfrm>
          <a:prstGeom prst="rect">
            <a:avLst/>
          </a:prstGeom>
          <a:solidFill>
            <a:srgbClr val="F0DDB9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58568"/>
            <a:ext cx="197510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2103120"/>
            <a:ext cx="2743200" cy="475488"/>
          </a:xfrm>
          <a:prstGeom prst="rect">
            <a:avLst/>
          </a:prstGeom>
          <a:solidFill>
            <a:srgbClr val="F0DDB9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2258568"/>
            <a:ext cx="25237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logic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103120"/>
            <a:ext cx="4754880" cy="475488"/>
          </a:xfrm>
          <a:prstGeom prst="rect">
            <a:avLst/>
          </a:prstGeom>
          <a:solidFill>
            <a:srgbClr val="5A123B"/>
          </a:solidFill>
          <a:ln w="12700">
            <a:solidFill>
              <a:srgbClr val="D8C3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2258568"/>
            <a:ext cx="453542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works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578608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752344"/>
            <a:ext cx="19751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guidance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017520" y="25786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2752344"/>
            <a:ext cx="25237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 / session fee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760720" y="2578608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2752344"/>
            <a:ext cx="45354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urgency, quick conversion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22960" y="3108960"/>
            <a:ext cx="2194560" cy="530352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282696"/>
            <a:ext cx="19751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puja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017520" y="3108960"/>
            <a:ext cx="2743200" cy="530352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3282696"/>
            <a:ext cx="25237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event pricing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760720" y="3108960"/>
            <a:ext cx="4754880" cy="530352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0448" y="3282696"/>
            <a:ext cx="45354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emotional, multi-user willingness to pay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22960" y="3639312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813048"/>
            <a:ext cx="19751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017520" y="363931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7248" y="3813048"/>
            <a:ext cx="25237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/ annual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760720" y="3639312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0448" y="3813048"/>
            <a:ext cx="45354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repeat rituals and priority access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22960" y="4169664"/>
            <a:ext cx="2194560" cy="530352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343400"/>
            <a:ext cx="197510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concierge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017520" y="4169664"/>
            <a:ext cx="2743200" cy="530352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7248" y="4343400"/>
            <a:ext cx="252374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high-ticket planning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760720" y="4169664"/>
            <a:ext cx="4754880" cy="530352"/>
          </a:xfrm>
          <a:prstGeom prst="rect">
            <a:avLst/>
          </a:prstGeom>
          <a:solidFill>
            <a:srgbClr val="FBF4E7"/>
          </a:solidFill>
          <a:ln w="12700">
            <a:solidFill>
              <a:srgbClr val="D8C39C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0448" y="4343400"/>
            <a:ext cx="45354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monetization layer for high-value families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914400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1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wallet-first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1440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upfront cash flow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03320" y="5166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1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ritual-led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3703320" y="5733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ARPU moments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9400" y="5166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1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graph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629400" y="5733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referral loop</a:t>
            </a:r>
            <a:endParaRPr lang="en-US" sz="900" dirty="0"/>
          </a:p>
        </p:txBody>
      </p:sp>
      <p:pic>
        <p:nvPicPr>
          <p:cNvPr id="42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30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AND USE OF FUNDS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product-led team building the faith-tech operating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304288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Naman Kharbanda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CEO &amp; CTO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hardware integration, full-stack product, automation, international commerce growth.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983480" y="20574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39C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A985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0" y="2304288"/>
            <a:ext cx="2560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A1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Praveen Dhingra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2697480"/>
            <a:ext cx="320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 &amp; COO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Finance, operations, equity markets, customer experience, scaling strategy.</a:t>
            </a:r>
            <a:endParaRPr lang="en-US" sz="1120" dirty="0"/>
          </a:p>
        </p:txBody>
      </p:sp>
      <p:pic>
        <p:nvPicPr>
          <p:cNvPr id="12" name="Image 0" descr="C:\Users\NAMAN KHARBANDA\Downloads\ElatoAI-main (2)\deck_output\assets\pandit-consisten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828800"/>
            <a:ext cx="1554480" cy="1874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606040" y="4800600"/>
            <a:ext cx="1115568" cy="777240"/>
          </a:xfrm>
          <a:prstGeom prst="rect">
            <a:avLst/>
          </a:prstGeom>
          <a:solidFill>
            <a:srgbClr val="5A123B"/>
          </a:solidFill>
          <a:ln w="12700">
            <a:solidFill>
              <a:srgbClr val="5A12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06040" y="5623560"/>
            <a:ext cx="11155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41448" y="5870448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+ UX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4297680" y="4800600"/>
            <a:ext cx="1115568" cy="647700"/>
          </a:xfrm>
          <a:prstGeom prst="rect">
            <a:avLst/>
          </a:prstGeom>
          <a:solidFill>
            <a:srgbClr val="B77A17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5623560"/>
            <a:ext cx="11155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33088" y="5870448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/ platform IP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5989320" y="4800600"/>
            <a:ext cx="1115568" cy="518160"/>
          </a:xfrm>
          <a:prstGeom prst="rect">
            <a:avLst/>
          </a:prstGeom>
          <a:solidFill>
            <a:srgbClr val="5A123B"/>
          </a:solidFill>
          <a:ln w="12700">
            <a:solidFill>
              <a:srgbClr val="5A12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5623560"/>
            <a:ext cx="11155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24728" y="5870448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+ infra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>
            <a:off x="7680960" y="4800600"/>
            <a:ext cx="1115568" cy="259080"/>
          </a:xfrm>
          <a:prstGeom prst="rect">
            <a:avLst/>
          </a:prstGeom>
          <a:solidFill>
            <a:srgbClr val="B77A17"/>
          </a:solidFill>
          <a:ln w="12700">
            <a:solidFill>
              <a:srgbClr val="B77A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5623560"/>
            <a:ext cx="11155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516368" y="5870448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9372600" y="4800600"/>
            <a:ext cx="1115568" cy="388620"/>
          </a:xfrm>
          <a:prstGeom prst="rect">
            <a:avLst/>
          </a:prstGeom>
          <a:solidFill>
            <a:srgbClr val="5A123B"/>
          </a:solidFill>
          <a:ln w="12700">
            <a:solidFill>
              <a:srgbClr val="5A12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72600" y="5623560"/>
            <a:ext cx="1115568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208008" y="5870448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capital</a:t>
            </a:r>
            <a:endParaRPr lang="en-US" sz="740" dirty="0"/>
          </a:p>
        </p:txBody>
      </p:sp>
      <p:pic>
        <p:nvPicPr>
          <p:cNvPr id="29" name="Image 1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1E2"/>
          </a:solidFill>
          <a:ln w="12700">
            <a:solidFill>
              <a:srgbClr val="F8F1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473952"/>
            <a:ext cx="11430000" cy="0"/>
          </a:xfrm>
          <a:prstGeom prst="line">
            <a:avLst/>
          </a:prstGeom>
          <a:noFill/>
          <a:ln w="12700">
            <a:solidFill>
              <a:srgbClr val="D8C39C">
                <a:alpha val="65000"/>
              </a:srgbClr>
            </a:solidFill>
            <a:prstDash val="solid"/>
          </a:ln>
        </p:spPr>
      </p:sp>
      <p:pic>
        <p:nvPicPr>
          <p:cNvPr id="4" name="Image 0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02920"/>
            <a:ext cx="1143000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058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5A1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spiritual operating layer for Hindu families globally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078992" y="3429000"/>
            <a:ext cx="69494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1A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Murti begins with immediate access and trust. Over time, it becomes the default system for global Hindu families: guidance, shared ritual, family memory, and eventually dedicated household presence.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8992" y="4572000"/>
            <a:ext cx="6949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77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trusted family pandit, now instant, affordable, and global.</a:t>
            </a:r>
            <a:endParaRPr lang="en-US" sz="1800" dirty="0"/>
          </a:p>
        </p:txBody>
      </p:sp>
      <p:pic>
        <p:nvPicPr>
          <p:cNvPr id="8" name="Image 1" descr="C:\Users\NAMAN KHARBANDA\Downloads\ElatoAI-main (2)\deck_output\assets\pandit-consistent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051560"/>
            <a:ext cx="2880360" cy="3383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5696712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5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smartmurti.com  |  support@smartmurti.com</a:t>
            </a:r>
            <a:endParaRPr lang="en-US" sz="1050" dirty="0"/>
          </a:p>
        </p:txBody>
      </p:sp>
      <p:pic>
        <p:nvPicPr>
          <p:cNvPr id="10" name="Image 2" descr="C:\Users\NAMAN KHARBANDA\Downloads\ElatoAI-main (2)\ElatoAI-main\frontend-nextjs\public\assets\landing\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6528816"/>
            <a:ext cx="960120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66960" y="64739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7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2026  |  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Smart Murti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Murti Investor Pitch Deck</dc:title>
  <dc:subject>Smart Murti Investor Pitch Deck</dc:subject>
  <dc:creator>Smart Murti</dc:creator>
  <cp:lastModifiedBy>Smart Murti</cp:lastModifiedBy>
  <cp:revision>1</cp:revision>
  <dcterms:created xsi:type="dcterms:W3CDTF">2026-04-29T17:41:09Z</dcterms:created>
  <dcterms:modified xsi:type="dcterms:W3CDTF">2026-04-29T17:41:09Z</dcterms:modified>
</cp:coreProperties>
</file>